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3D0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63D0C"/>
                </a:solidFill>
                <a:latin typeface="Arial"/>
              </a:rPr>
              <a:t>Soil moisture and pump control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Soil moisture (%)</c:v>
                </c:pt>
              </c:strCache>
            </c:strRef>
          </c:tx>
          <c:spPr>
            <a:solidFill>
              <a:srgbClr val="0B4D12"/>
            </a:solidFill>
            <a:ln w="38100" cap="flat">
              <a:solidFill>
                <a:srgbClr val="0B4D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4D12"/>
              </a:solidFill>
              <a:ln w="9525" cap="flat">
                <a:solidFill>
                  <a:srgbClr val="0B4D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52</c:v>
                </c:pt>
                <c:pt idx="1">
                  <c:v>46</c:v>
                </c:pt>
                <c:pt idx="2">
                  <c:v>40</c:v>
                </c:pt>
                <c:pt idx="3">
                  <c:v>34</c:v>
                </c:pt>
                <c:pt idx="4">
                  <c:v>28</c:v>
                </c:pt>
                <c:pt idx="5">
                  <c:v>36</c:v>
                </c:pt>
                <c:pt idx="6">
                  <c:v>45</c:v>
                </c:pt>
                <c:pt idx="7">
                  <c:v>54</c:v>
                </c:pt>
                <c:pt idx="8">
                  <c:v>62</c:v>
                </c:pt>
                <c:pt idx="9">
                  <c:v>58</c:v>
                </c:pt>
                <c:pt idx="10">
                  <c:v>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Dry threshold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30</c:v>
                </c:pt>
                <c:pt idx="10">
                  <c:v>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level</c:v>
                </c:pt>
              </c:strCache>
            </c:strRef>
          </c:tx>
          <c:spPr>
            <a:solidFill>
              <a:srgbClr val="6BBF59"/>
            </a:solidFill>
            <a:ln w="38100" cap="flat">
              <a:solidFill>
                <a:srgbClr val="6BBF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BF59"/>
              </a:solidFill>
              <a:ln w="9525" cap="flat">
                <a:solidFill>
                  <a:srgbClr val="6BBF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63D0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20"/>
        </c:scaling>
        <c:delete val="0"/>
        <c:axPos val="l"/>
        <c:majorGridlines>
          <c:spPr>
            <a:ln w="6350" cap="flat">
              <a:solidFill>
                <a:srgbClr val="D9E8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63D0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63D0C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4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RYTHUMITRA AI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ME">
    <p:bg>
      <p:bgPr>
        <a:solidFill>
          <a:srgbClr val="D4F7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RYTHUMITRA AI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RYTHUMITRA AI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0B4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0">
            <a:off x="-457200" y="3291840"/>
            <a:ext cx="2377440" cy="23774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7315200" y="-548640"/>
            <a:ext cx="2560320" cy="25603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0">
            <a:off x="7863840" y="3566160"/>
            <a:ext cx="1097280" cy="1097280"/>
          </a:xfrm>
          <a:prstGeom prst="rect">
            <a:avLst/>
          </a:prstGeom>
        </p:spPr>
      </p:pic>
      <p:sp>
        <p:nvSpPr>
          <p:cNvPr id="5" name="Logo circle"/>
          <p:cNvSpPr/>
          <p:nvPr/>
        </p:nvSpPr>
        <p:spPr>
          <a:xfrm>
            <a:off x="4160520" y="685800"/>
            <a:ext cx="822960" cy="822960"/>
          </a:xfrm>
          <a:prstGeom prst="ellipse">
            <a:avLst/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914400"/>
            <a:ext cx="365760" cy="36576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RYTHUMITRA AI</a:t>
            </a:r>
            <a:endParaRPr lang="en-US" sz="5400" dirty="0"/>
          </a:p>
        </p:txBody>
      </p:sp>
      <p:sp>
        <p:nvSpPr>
          <p:cNvPr id="8" name="Text 2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IRRIGATION  |  MULTILINGUAL AI  |  FAIRPRICE</a:t>
            </a:r>
            <a:endParaRPr lang="en-US" sz="1400" dirty="0"/>
          </a:p>
        </p:txBody>
      </p:sp>
      <p:sp>
        <p:nvSpPr>
          <p:cNvPr id="9" name="Review pill"/>
          <p:cNvSpPr/>
          <p:nvPr/>
        </p:nvSpPr>
        <p:spPr>
          <a:xfrm>
            <a:off x="2743200" y="3429000"/>
            <a:ext cx="3657600" cy="457200"/>
          </a:xfrm>
          <a:prstGeom prst="roundRect">
            <a:avLst>
              <a:gd name="adj" fmla="val 24000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274320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1 PRESENTATION</a:t>
            </a:r>
            <a:endParaRPr lang="en-US" sz="14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AIBOTS-2026 HACKATHON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3716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Guesswork irrigation.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decide by eye, which can waste water or stress crops.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gap.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advice is rarely in Telugu, Hindi, Tamil or Kannada.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returns.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market prices after costs is hard.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connectivity.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Cloud-only tools fail when the network does.</a:t>
            </a:r>
            <a:endParaRPr lang="en-US" sz="1400" dirty="0"/>
          </a:p>
        </p:txBody>
      </p:sp>
      <p:sp>
        <p:nvSpPr>
          <p:cNvPr id="6" name="Circle frame"/>
          <p:cNvSpPr/>
          <p:nvPr/>
        </p:nvSpPr>
        <p:spPr>
          <a:xfrm>
            <a:off x="5943600" y="1280160"/>
            <a:ext cx="2743200" cy="2743200"/>
          </a:xfrm>
          <a:prstGeom prst="ellipse">
            <a:avLst/>
          </a:prstGeom>
          <a:solidFill>
            <a:srgbClr val="0B4D12"/>
          </a:solidFill>
          <a:ln w="63500">
            <a:solidFill>
              <a:srgbClr val="6BBF59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65960"/>
            <a:ext cx="1371600" cy="1371600"/>
          </a:xfrm>
          <a:prstGeom prst="rect">
            <a:avLst/>
          </a:prstGeom>
        </p:spPr>
      </p:pic>
      <p:sp>
        <p:nvSpPr>
          <p:cNvPr id="8" name="Sector pill"/>
          <p:cNvSpPr/>
          <p:nvPr/>
        </p:nvSpPr>
        <p:spPr>
          <a:xfrm>
            <a:off x="5669280" y="4206240"/>
            <a:ext cx="3291840" cy="384048"/>
          </a:xfrm>
          <a:prstGeom prst="roundRect">
            <a:avLst>
              <a:gd name="adj" fmla="val 28571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669280" y="4206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Sector: Agriculture and AgriTech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RYTHUMITRA AI?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hardware and software system. It shows when the soil needs water, can switch a demo pump automatically, and answers farmers in their own language.</a:t>
            </a:r>
            <a:endParaRPr lang="en-US" sz="1500" dirty="0"/>
          </a:p>
        </p:txBody>
      </p:sp>
      <p:sp>
        <p:nvSpPr>
          <p:cNvPr id="6" name="Scope note"/>
          <p:cNvSpPr/>
          <p:nvPr/>
        </p:nvSpPr>
        <p:spPr>
          <a:xfrm>
            <a:off x="457200" y="352044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scope: irrigation, AI assistant and FairPrice. Leaf-photo screening is an optional extension.</a:t>
            </a:r>
            <a:endParaRPr lang="en-US" sz="1200" dirty="0"/>
          </a:p>
        </p:txBody>
      </p:sp>
      <p:sp>
        <p:nvSpPr>
          <p:cNvPr id="8" name="Module tile"/>
          <p:cNvSpPr/>
          <p:nvPr/>
        </p:nvSpPr>
        <p:spPr>
          <a:xfrm>
            <a:off x="4754880" y="137160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087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4632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Irrigation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4846320" y="2350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Sensor, pump, stop</a:t>
            </a:r>
            <a:endParaRPr lang="en-US" sz="1100" dirty="0"/>
          </a:p>
        </p:txBody>
      </p:sp>
      <p:sp>
        <p:nvSpPr>
          <p:cNvPr id="12" name="Module tile"/>
          <p:cNvSpPr/>
          <p:nvPr/>
        </p:nvSpPr>
        <p:spPr>
          <a:xfrm>
            <a:off x="6766560" y="137160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0876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800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6858000" y="2350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languages</a:t>
            </a:r>
            <a:endParaRPr lang="en-US" sz="1100" dirty="0"/>
          </a:p>
        </p:txBody>
      </p:sp>
      <p:sp>
        <p:nvSpPr>
          <p:cNvPr id="16" name="Module tile"/>
          <p:cNvSpPr/>
          <p:nvPr/>
        </p:nvSpPr>
        <p:spPr>
          <a:xfrm>
            <a:off x="4754880" y="29260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06324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84632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FairPrice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4846320" y="3904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returns</a:t>
            </a:r>
            <a:endParaRPr lang="en-US" sz="1100" dirty="0"/>
          </a:p>
        </p:txBody>
      </p:sp>
      <p:sp>
        <p:nvSpPr>
          <p:cNvPr id="20" name="Module tile"/>
          <p:cNvSpPr/>
          <p:nvPr/>
        </p:nvSpPr>
        <p:spPr>
          <a:xfrm>
            <a:off x="6766560" y="29260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306324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85800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Screening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6858000" y="3904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&amp; INNOVATION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3716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farm-tech tools do one thing. RythuMitra AI joins sensing, control, language and market insight in a single prototype.</a:t>
            </a:r>
            <a:endParaRPr lang="en-US" sz="1500" dirty="0"/>
          </a:p>
        </p:txBody>
      </p:sp>
      <p:sp>
        <p:nvSpPr>
          <p:cNvPr id="6" name="Tagline card"/>
          <p:cNvSpPr/>
          <p:nvPr/>
        </p:nvSpPr>
        <p:spPr>
          <a:xfrm>
            <a:off x="457200" y="329184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291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prototype. Four modules. Five languages.</a:t>
            </a:r>
            <a:endParaRPr lang="en-US" sz="1600" dirty="0"/>
          </a:p>
        </p:txBody>
      </p:sp>
      <p:sp>
        <p:nvSpPr>
          <p:cNvPr id="8" name="Novelty card"/>
          <p:cNvSpPr/>
          <p:nvPr/>
        </p:nvSpPr>
        <p:spPr>
          <a:xfrm>
            <a:off x="3931920" y="1371600"/>
            <a:ext cx="4754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9" name="Number tag"/>
          <p:cNvSpPr/>
          <p:nvPr/>
        </p:nvSpPr>
        <p:spPr>
          <a:xfrm>
            <a:off x="4041648" y="154533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041648" y="15453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70916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+ AI together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17556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sensor readings shape irrigation answers.</a:t>
            </a:r>
            <a:endParaRPr lang="en-US" sz="1100" dirty="0"/>
          </a:p>
        </p:txBody>
      </p:sp>
      <p:sp>
        <p:nvSpPr>
          <p:cNvPr id="13" name="Novelty card"/>
          <p:cNvSpPr/>
          <p:nvPr/>
        </p:nvSpPr>
        <p:spPr>
          <a:xfrm>
            <a:off x="3931920" y="2194560"/>
            <a:ext cx="4754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14" name="Number tag"/>
          <p:cNvSpPr/>
          <p:nvPr/>
        </p:nvSpPr>
        <p:spPr>
          <a:xfrm>
            <a:off x="4041648" y="236829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041648" y="2368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Irrigation without internet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runs the pump logic locally and safely.</a:t>
            </a:r>
            <a:endParaRPr lang="en-US" sz="1100" dirty="0"/>
          </a:p>
        </p:txBody>
      </p:sp>
      <p:sp>
        <p:nvSpPr>
          <p:cNvPr id="18" name="Novelty card"/>
          <p:cNvSpPr/>
          <p:nvPr/>
        </p:nvSpPr>
        <p:spPr>
          <a:xfrm>
            <a:off x="3931920" y="3017520"/>
            <a:ext cx="4754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19" name="Number tag"/>
          <p:cNvSpPr/>
          <p:nvPr/>
        </p:nvSpPr>
        <p:spPr>
          <a:xfrm>
            <a:off x="4041648" y="319125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41648" y="31912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70916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Five-language access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70916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Telugu, Hindi, Tamil, Kannada and English.</a:t>
            </a:r>
            <a:endParaRPr lang="en-US" sz="1100" dirty="0"/>
          </a:p>
        </p:txBody>
      </p:sp>
      <p:sp>
        <p:nvSpPr>
          <p:cNvPr id="23" name="Novelty card"/>
          <p:cNvSpPr/>
          <p:nvPr/>
        </p:nvSpPr>
        <p:spPr>
          <a:xfrm>
            <a:off x="3931920" y="3840480"/>
            <a:ext cx="4754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24" name="Number tag"/>
          <p:cNvSpPr/>
          <p:nvPr/>
        </p:nvSpPr>
        <p:spPr>
          <a:xfrm>
            <a:off x="4041648" y="401421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041648" y="40142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470916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FairPrice net returns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709160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markets after costs, not just price.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LAYER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LAYER</a:t>
            </a:r>
            <a:endParaRPr lang="en-US" sz="1000" dirty="0"/>
          </a:p>
        </p:txBody>
      </p:sp>
      <p:sp>
        <p:nvSpPr>
          <p:cNvPr id="7" name="Architecture box"/>
          <p:cNvSpPr/>
          <p:nvPr/>
        </p:nvSpPr>
        <p:spPr>
          <a:xfrm>
            <a:off x="457200" y="160020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91640"/>
            <a:ext cx="310896" cy="3108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2920" y="2057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Sensor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502920" y="23042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soil moisture</a:t>
            </a:r>
            <a:endParaRPr lang="en-US" sz="1000" dirty="0"/>
          </a:p>
        </p:txBody>
      </p:sp>
      <p:sp>
        <p:nvSpPr>
          <p:cNvPr id="11" name="Architecture box"/>
          <p:cNvSpPr/>
          <p:nvPr/>
        </p:nvSpPr>
        <p:spPr>
          <a:xfrm>
            <a:off x="2651760" y="160020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691640"/>
            <a:ext cx="310896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697480" y="2057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Controller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2697480" y="23042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safety checks</a:t>
            </a:r>
            <a:endParaRPr lang="en-US" sz="1000" dirty="0"/>
          </a:p>
        </p:txBody>
      </p:sp>
      <p:sp>
        <p:nvSpPr>
          <p:cNvPr id="15" name="Architecture box"/>
          <p:cNvSpPr/>
          <p:nvPr/>
        </p:nvSpPr>
        <p:spPr>
          <a:xfrm>
            <a:off x="4846320" y="160020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691640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92040" y="2057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Driver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4892040" y="23042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switching</a:t>
            </a:r>
            <a:endParaRPr lang="en-US" sz="1000" dirty="0"/>
          </a:p>
        </p:txBody>
      </p:sp>
      <p:sp>
        <p:nvSpPr>
          <p:cNvPr id="19" name="Architecture box"/>
          <p:cNvSpPr/>
          <p:nvPr/>
        </p:nvSpPr>
        <p:spPr>
          <a:xfrm>
            <a:off x="7040880" y="160020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691640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86600" y="2057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Pump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7086600" y="23042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Low-voltage DC</a:t>
            </a:r>
            <a:endParaRPr lang="en-US" sz="1000" dirty="0"/>
          </a:p>
        </p:txBody>
      </p:sp>
      <p:sp>
        <p:nvSpPr>
          <p:cNvPr id="23" name="Architecture box"/>
          <p:cNvSpPr/>
          <p:nvPr/>
        </p:nvSpPr>
        <p:spPr>
          <a:xfrm>
            <a:off x="457200" y="306324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" y="315468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02920" y="3520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502920" y="3767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or laptop</a:t>
            </a:r>
            <a:endParaRPr lang="en-US" sz="1000" dirty="0"/>
          </a:p>
        </p:txBody>
      </p:sp>
      <p:sp>
        <p:nvSpPr>
          <p:cNvPr id="27" name="Architecture box"/>
          <p:cNvSpPr/>
          <p:nvPr/>
        </p:nvSpPr>
        <p:spPr>
          <a:xfrm>
            <a:off x="2651760" y="306324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315468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2697480" y="3520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2697480" y="3767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Readings, status, controls</a:t>
            </a:r>
            <a:endParaRPr lang="en-US" sz="1000" dirty="0"/>
          </a:p>
        </p:txBody>
      </p:sp>
      <p:sp>
        <p:nvSpPr>
          <p:cNvPr id="31" name="Architecture box"/>
          <p:cNvSpPr/>
          <p:nvPr/>
        </p:nvSpPr>
        <p:spPr>
          <a:xfrm>
            <a:off x="4846320" y="306324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32" y="3154680"/>
            <a:ext cx="310896" cy="31089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892040" y="3520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4892040" y="3767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Telugu, Hindi + 3 more</a:t>
            </a:r>
            <a:endParaRPr lang="en-US" sz="1000" dirty="0"/>
          </a:p>
        </p:txBody>
      </p:sp>
      <p:sp>
        <p:nvSpPr>
          <p:cNvPr id="35" name="Architecture box"/>
          <p:cNvSpPr/>
          <p:nvPr/>
        </p:nvSpPr>
        <p:spPr>
          <a:xfrm>
            <a:off x="7040880" y="306324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8392" y="3154680"/>
            <a:ext cx="310896" cy="310896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086600" y="3520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FairPrice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7086600" y="3767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leaf-photo screening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2103120" y="2103120"/>
            <a:ext cx="548640" cy="0"/>
          </a:xfrm>
          <a:prstGeom prst="line">
            <a:avLst/>
          </a:prstGeom>
          <a:noFill/>
          <a:ln w="25400">
            <a:solidFill>
              <a:srgbClr val="D4F78A"/>
            </a:solidFill>
            <a:prstDash val="solid"/>
            <a:tailEnd type="triangle"/>
          </a:ln>
        </p:spPr>
      </p:sp>
      <p:sp>
        <p:nvSpPr>
          <p:cNvPr id="40" name="Shape 28"/>
          <p:cNvSpPr/>
          <p:nvPr/>
        </p:nvSpPr>
        <p:spPr>
          <a:xfrm>
            <a:off x="4297680" y="2103120"/>
            <a:ext cx="548640" cy="0"/>
          </a:xfrm>
          <a:prstGeom prst="line">
            <a:avLst/>
          </a:prstGeom>
          <a:noFill/>
          <a:ln w="25400">
            <a:solidFill>
              <a:srgbClr val="D4F78A"/>
            </a:solidFill>
            <a:prstDash val="solid"/>
            <a:tailEnd type="triangle"/>
          </a:ln>
        </p:spPr>
      </p:sp>
      <p:sp>
        <p:nvSpPr>
          <p:cNvPr id="41" name="Shape 29"/>
          <p:cNvSpPr/>
          <p:nvPr/>
        </p:nvSpPr>
        <p:spPr>
          <a:xfrm>
            <a:off x="6492240" y="2103120"/>
            <a:ext cx="548640" cy="0"/>
          </a:xfrm>
          <a:prstGeom prst="line">
            <a:avLst/>
          </a:prstGeom>
          <a:noFill/>
          <a:ln w="25400">
            <a:solidFill>
              <a:srgbClr val="D4F78A"/>
            </a:solidFill>
            <a:prstDash val="solid"/>
            <a:tailEnd type="triangle"/>
          </a:ln>
        </p:spPr>
      </p:sp>
      <p:sp>
        <p:nvSpPr>
          <p:cNvPr id="42" name="Shape 30"/>
          <p:cNvSpPr/>
          <p:nvPr/>
        </p:nvSpPr>
        <p:spPr>
          <a:xfrm>
            <a:off x="2103120" y="3566160"/>
            <a:ext cx="548640" cy="0"/>
          </a:xfrm>
          <a:prstGeom prst="line">
            <a:avLst/>
          </a:prstGeom>
          <a:noFill/>
          <a:ln w="25400">
            <a:solidFill>
              <a:srgbClr val="D4F78A"/>
            </a:solidFill>
            <a:prstDash val="solid"/>
            <a:tailEnd type="triangle"/>
          </a:ln>
        </p:spPr>
      </p:sp>
      <p:sp>
        <p:nvSpPr>
          <p:cNvPr id="43" name="Shape 31"/>
          <p:cNvSpPr/>
          <p:nvPr/>
        </p:nvSpPr>
        <p:spPr>
          <a:xfrm>
            <a:off x="4297680" y="3566160"/>
            <a:ext cx="548640" cy="0"/>
          </a:xfrm>
          <a:prstGeom prst="line">
            <a:avLst/>
          </a:prstGeom>
          <a:noFill/>
          <a:ln w="25400">
            <a:solidFill>
              <a:srgbClr val="D4F78A"/>
            </a:solidFill>
            <a:prstDash val="solid"/>
            <a:tailEnd type="triangle"/>
          </a:ln>
        </p:spPr>
      </p:sp>
      <p:sp>
        <p:nvSpPr>
          <p:cNvPr id="44" name="Shape 32"/>
          <p:cNvSpPr/>
          <p:nvPr/>
        </p:nvSpPr>
        <p:spPr>
          <a:xfrm>
            <a:off x="6492240" y="3566160"/>
            <a:ext cx="548640" cy="0"/>
          </a:xfrm>
          <a:prstGeom prst="line">
            <a:avLst/>
          </a:prstGeom>
          <a:noFill/>
          <a:ln w="25400">
            <a:solidFill>
              <a:srgbClr val="D4F78A"/>
            </a:solidFill>
            <a:prstDash val="solid"/>
            <a:tailEnd type="triangle"/>
          </a:ln>
        </p:spPr>
      </p:sp>
      <p:sp>
        <p:nvSpPr>
          <p:cNvPr id="45" name="Shape 33"/>
          <p:cNvSpPr/>
          <p:nvPr/>
        </p:nvSpPr>
        <p:spPr>
          <a:xfrm>
            <a:off x="3474720" y="2606040"/>
            <a:ext cx="0" cy="457200"/>
          </a:xfrm>
          <a:prstGeom prst="line">
            <a:avLst/>
          </a:prstGeom>
          <a:noFill/>
          <a:ln w="25400">
            <a:solidFill>
              <a:srgbClr val="D4F78A"/>
            </a:solidFill>
            <a:prstDash val="solid"/>
            <a:headEnd type="triangle"/>
            <a:tailEnd type="triangle"/>
          </a:ln>
        </p:spPr>
      </p:sp>
      <p:sp>
        <p:nvSpPr>
          <p:cNvPr id="46" name="Text 34"/>
          <p:cNvSpPr txBox="1"/>
          <p:nvPr/>
        </p:nvSpPr>
        <p:spPr>
          <a:xfrm>
            <a:off x="361188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ESP32 switches the pump on its own, so irrigation keeps working if the internet or the AI is unavailable.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IRRIGATION LOGIC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Chart card"/>
          <p:cNvSpPr/>
          <p:nvPr/>
        </p:nvSpPr>
        <p:spPr>
          <a:xfrm>
            <a:off x="457200" y="128016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32588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4462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illustrative. Real thresholds are calibrated per crop and soil.</a:t>
            </a:r>
            <a:endParaRPr lang="en-US" sz="1000" dirty="0"/>
          </a:p>
        </p:txBody>
      </p:sp>
      <p:sp>
        <p:nvSpPr>
          <p:cNvPr id="8" name="Step number"/>
          <p:cNvSpPr/>
          <p:nvPr/>
        </p:nvSpPr>
        <p:spPr>
          <a:xfrm>
            <a:off x="5760720" y="1417320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7607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630936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too dry: pump starts if safety checks pass.</a:t>
            </a:r>
            <a:endParaRPr lang="en-US" sz="1300" dirty="0"/>
          </a:p>
        </p:txBody>
      </p:sp>
      <p:sp>
        <p:nvSpPr>
          <p:cNvPr id="11" name="Step number"/>
          <p:cNvSpPr/>
          <p:nvPr/>
        </p:nvSpPr>
        <p:spPr>
          <a:xfrm>
            <a:off x="5760720" y="2221992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76072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21305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moisture reached: pump stops.</a:t>
            </a:r>
            <a:endParaRPr lang="en-US" sz="1300" dirty="0"/>
          </a:p>
        </p:txBody>
      </p:sp>
      <p:sp>
        <p:nvSpPr>
          <p:cNvPr id="14" name="Step number"/>
          <p:cNvSpPr/>
          <p:nvPr/>
        </p:nvSpPr>
        <p:spPr>
          <a:xfrm>
            <a:off x="5760720" y="3026664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7607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9352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stop button: immediate manual stop.</a:t>
            </a:r>
            <a:endParaRPr lang="en-US" sz="1300" dirty="0"/>
          </a:p>
        </p:txBody>
      </p:sp>
      <p:sp>
        <p:nvSpPr>
          <p:cNvPr id="17" name="Step number"/>
          <p:cNvSpPr/>
          <p:nvPr/>
        </p:nvSpPr>
        <p:spPr>
          <a:xfrm>
            <a:off x="5760720" y="3831336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7607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37398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or timeout: pump stops and an alert shows.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&amp; FAIRPRICE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Module card"/>
          <p:cNvSpPr/>
          <p:nvPr/>
        </p:nvSpPr>
        <p:spPr>
          <a:xfrm>
            <a:off x="457200" y="1371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00784"/>
            <a:ext cx="301752" cy="301752"/>
          </a:xfrm>
          <a:prstGeom prst="rect">
            <a:avLst/>
          </a:prstGeom>
        </p:spPr>
      </p:pic>
      <p:sp>
        <p:nvSpPr>
          <p:cNvPr id="8" name="Tag"/>
          <p:cNvSpPr/>
          <p:nvPr/>
        </p:nvSpPr>
        <p:spPr>
          <a:xfrm>
            <a:off x="2240280" y="1709928"/>
            <a:ext cx="640080" cy="256032"/>
          </a:xfrm>
          <a:prstGeom prst="roundRect">
            <a:avLst>
              <a:gd name="adj" fmla="val 42857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2240280" y="17099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AI Assistant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Telugu, Hindi, Tamil, Kannada, English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live moisture readings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Crop, soil health, livestock basics</a:t>
            </a:r>
            <a:endParaRPr lang="en-US" sz="1200" dirty="0"/>
          </a:p>
        </p:txBody>
      </p:sp>
      <p:sp>
        <p:nvSpPr>
          <p:cNvPr id="12" name="Module card"/>
          <p:cNvSpPr/>
          <p:nvPr/>
        </p:nvSpPr>
        <p:spPr>
          <a:xfrm>
            <a:off x="3246120" y="1371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3429000" y="1554480"/>
            <a:ext cx="594360" cy="594360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700784"/>
            <a:ext cx="301752" cy="301752"/>
          </a:xfrm>
          <a:prstGeom prst="rect">
            <a:avLst/>
          </a:prstGeom>
        </p:spPr>
      </p:pic>
      <p:sp>
        <p:nvSpPr>
          <p:cNvPr id="15" name="Tag"/>
          <p:cNvSpPr/>
          <p:nvPr/>
        </p:nvSpPr>
        <p:spPr>
          <a:xfrm>
            <a:off x="5029200" y="1709928"/>
            <a:ext cx="640080" cy="256032"/>
          </a:xfrm>
          <a:prstGeom prst="roundRect">
            <a:avLst>
              <a:gd name="adj" fmla="val 42857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029200" y="17099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342900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FairPrice Advisor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342900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market prices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net returns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date of price data</a:t>
            </a:r>
            <a:endParaRPr lang="en-US" sz="1200" dirty="0"/>
          </a:p>
        </p:txBody>
      </p:sp>
      <p:sp>
        <p:nvSpPr>
          <p:cNvPr id="19" name="Module card"/>
          <p:cNvSpPr/>
          <p:nvPr/>
        </p:nvSpPr>
        <p:spPr>
          <a:xfrm>
            <a:off x="6035040" y="1371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217920" y="1554480"/>
            <a:ext cx="594360" cy="594360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700784"/>
            <a:ext cx="301752" cy="301752"/>
          </a:xfrm>
          <a:prstGeom prst="rect">
            <a:avLst/>
          </a:prstGeom>
        </p:spPr>
      </p:pic>
      <p:sp>
        <p:nvSpPr>
          <p:cNvPr id="22" name="Tag"/>
          <p:cNvSpPr/>
          <p:nvPr/>
        </p:nvSpPr>
        <p:spPr>
          <a:xfrm>
            <a:off x="7543800" y="1709928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43800" y="1709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62179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Leaf-Photo Screening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21792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extension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model, if feasible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screening only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Stack card"/>
          <p:cNvSpPr/>
          <p:nvPr/>
        </p:nvSpPr>
        <p:spPr>
          <a:xfrm>
            <a:off x="457200" y="132588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tack header"/>
          <p:cNvSpPr/>
          <p:nvPr/>
        </p:nvSpPr>
        <p:spPr>
          <a:xfrm>
            <a:off x="457200" y="132588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8580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microcontroller with Wi-Fi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Soil-moisture sensor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low-voltage DC pump with a rated driver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buttons, including a red stop</a:t>
            </a:r>
            <a:endParaRPr lang="en-US" sz="1400" dirty="0"/>
          </a:p>
        </p:txBody>
      </p:sp>
      <p:sp>
        <p:nvSpPr>
          <p:cNvPr id="9" name="Stack card"/>
          <p:cNvSpPr/>
          <p:nvPr/>
        </p:nvSpPr>
        <p:spPr>
          <a:xfrm>
            <a:off x="4663440" y="132588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tack header"/>
          <p:cNvSpPr/>
          <p:nvPr/>
        </p:nvSpPr>
        <p:spPr>
          <a:xfrm>
            <a:off x="4663440" y="132588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9204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 (working HTML prototype)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language service for the assistant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Market-price data for FairPrice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image model (optional)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borewell motor needs qualified installation and is never wired directly to the ESP32.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Plan row"/>
          <p:cNvSpPr/>
          <p:nvPr/>
        </p:nvSpPr>
        <p:spPr>
          <a:xfrm>
            <a:off x="457200" y="129844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6" name="Step number"/>
          <p:cNvSpPr/>
          <p:nvPr/>
        </p:nvSpPr>
        <p:spPr>
          <a:xfrm>
            <a:off x="566928" y="1389888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692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9844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prototype</a:t>
            </a:r>
            <a:endParaRPr lang="en-US" sz="1400" dirty="0"/>
          </a:p>
        </p:txBody>
      </p:sp>
      <p:sp>
        <p:nvSpPr>
          <p:cNvPr id="9" name="Status badge"/>
          <p:cNvSpPr/>
          <p:nvPr/>
        </p:nvSpPr>
        <p:spPr>
          <a:xfrm>
            <a:off x="7178040" y="1417320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78040" y="1417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1" name="Plan row"/>
          <p:cNvSpPr/>
          <p:nvPr/>
        </p:nvSpPr>
        <p:spPr>
          <a:xfrm>
            <a:off x="457200" y="1975104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12" name="Step number"/>
          <p:cNvSpPr/>
          <p:nvPr/>
        </p:nvSpPr>
        <p:spPr>
          <a:xfrm>
            <a:off x="566928" y="2066544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66928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7510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setup: ESP32, sensor, driver, safe wiring</a:t>
            </a:r>
            <a:endParaRPr lang="en-US" sz="1400" dirty="0"/>
          </a:p>
        </p:txBody>
      </p:sp>
      <p:sp>
        <p:nvSpPr>
          <p:cNvPr id="15" name="Status badge"/>
          <p:cNvSpPr/>
          <p:nvPr/>
        </p:nvSpPr>
        <p:spPr>
          <a:xfrm>
            <a:off x="7178040" y="2093976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178040" y="2093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Plan row"/>
          <p:cNvSpPr/>
          <p:nvPr/>
        </p:nvSpPr>
        <p:spPr>
          <a:xfrm>
            <a:off x="457200" y="26517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18" name="Step number"/>
          <p:cNvSpPr/>
          <p:nvPr/>
        </p:nvSpPr>
        <p:spPr>
          <a:xfrm>
            <a:off x="566928" y="2743200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692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265176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hardware: live readings and pump status</a:t>
            </a:r>
            <a:endParaRPr lang="en-US" sz="1400" dirty="0"/>
          </a:p>
        </p:txBody>
      </p:sp>
      <p:sp>
        <p:nvSpPr>
          <p:cNvPr id="21" name="Status badge"/>
          <p:cNvSpPr/>
          <p:nvPr/>
        </p:nvSpPr>
        <p:spPr>
          <a:xfrm>
            <a:off x="7178040" y="2770632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178040" y="27706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100" dirty="0"/>
          </a:p>
        </p:txBody>
      </p:sp>
      <p:sp>
        <p:nvSpPr>
          <p:cNvPr id="23" name="Plan row"/>
          <p:cNvSpPr/>
          <p:nvPr/>
        </p:nvSpPr>
        <p:spPr>
          <a:xfrm>
            <a:off x="457200" y="3328416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24" name="Step number"/>
          <p:cNvSpPr/>
          <p:nvPr/>
        </p:nvSpPr>
        <p:spPr>
          <a:xfrm>
            <a:off x="566928" y="3419856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6692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143000" y="332841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 irrigation: thresholds, override, stop</a:t>
            </a:r>
            <a:endParaRPr lang="en-US" sz="1400" dirty="0"/>
          </a:p>
        </p:txBody>
      </p:sp>
      <p:sp>
        <p:nvSpPr>
          <p:cNvPr id="27" name="Status badge"/>
          <p:cNvSpPr/>
          <p:nvPr/>
        </p:nvSpPr>
        <p:spPr>
          <a:xfrm>
            <a:off x="7178040" y="3447288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178040" y="3447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100" dirty="0"/>
          </a:p>
        </p:txBody>
      </p:sp>
      <p:sp>
        <p:nvSpPr>
          <p:cNvPr id="29" name="Plan row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B4D12"/>
            </a:solidFill>
            <a:prstDash val="solid"/>
          </a:ln>
        </p:spPr>
      </p:sp>
      <p:sp>
        <p:nvSpPr>
          <p:cNvPr id="30" name="Step number"/>
          <p:cNvSpPr/>
          <p:nvPr/>
        </p:nvSpPr>
        <p:spPr>
          <a:xfrm>
            <a:off x="566928" y="4096512"/>
            <a:ext cx="384048" cy="384048"/>
          </a:xfrm>
          <a:prstGeom prst="ellipse">
            <a:avLst/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6692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1143000" y="400507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mode: FAQs, saved prices, local control</a:t>
            </a:r>
            <a:endParaRPr lang="en-US" sz="1400" dirty="0"/>
          </a:p>
        </p:txBody>
      </p:sp>
      <p:sp>
        <p:nvSpPr>
          <p:cNvPr id="33" name="Status badge"/>
          <p:cNvSpPr/>
          <p:nvPr/>
        </p:nvSpPr>
        <p:spPr>
          <a:xfrm>
            <a:off x="7178040" y="4123944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D4F78A"/>
          </a:solidFill>
          <a:ln w="12700">
            <a:solidFill>
              <a:srgbClr val="D4F78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178040" y="41239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RISK CONTROL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Info card"/>
          <p:cNvSpPr/>
          <p:nvPr/>
        </p:nvSpPr>
        <p:spPr>
          <a:xfrm>
            <a:off x="45720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06B1A"/>
          </a:solidFill>
          <a:ln w="12700">
            <a:solidFill>
              <a:srgbClr val="106B1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SO FAR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opens and runs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selector and FairPrice calculator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Irrigation simulation with stop button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screen and photo preview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is clearly labeled</a:t>
            </a:r>
            <a:endParaRPr lang="en-US" sz="1300" dirty="0"/>
          </a:p>
        </p:txBody>
      </p:sp>
      <p:sp>
        <p:nvSpPr>
          <p:cNvPr id="8" name="Info card"/>
          <p:cNvSpPr/>
          <p:nvPr/>
        </p:nvSpPr>
        <p:spPr>
          <a:xfrm>
            <a:off x="46634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06B1A"/>
          </a:solidFill>
          <a:ln w="12700">
            <a:solidFill>
              <a:srgbClr val="106B1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9204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CONTROLS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loss: ESP32 controls the pump locally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safety: low-voltage demo pump, rated driver, timeout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calibrate the sensor per crop and soil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screening is preliminary only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66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3000" dirty="0"/>
          </a:p>
        </p:txBody>
      </p:sp>
      <p:pic>
        <p:nvPicPr>
          <p:cNvPr id="3" name="Leaf deco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00000">
            <a:off x="7772400" y="-320040"/>
            <a:ext cx="1554480" cy="1554480"/>
          </a:xfrm>
          <a:prstGeom prst="rect">
            <a:avLst/>
          </a:prstGeom>
        </p:spPr>
      </p:pic>
      <p:pic>
        <p:nvPicPr>
          <p:cNvPr id="4" name="Leaf decoration sm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8321040" y="685800"/>
            <a:ext cx="731520" cy="73152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45720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prototype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324612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24612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3 core + 1 optional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603504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03504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4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13" name="Text 9"/>
          <p:cNvSpPr txBox="1"/>
          <p:nvPr/>
        </p:nvSpPr>
        <p:spPr>
          <a:xfrm>
            <a:off x="617220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supported</a:t>
            </a:r>
            <a:endParaRPr lang="en-US" sz="1400" dirty="0"/>
          </a:p>
        </p:txBody>
      </p:sp>
      <p:sp>
        <p:nvSpPr>
          <p:cNvPr id="14" name="Closing banner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0B4D12"/>
          </a:solidFill>
          <a:ln w="12700">
            <a:solidFill>
              <a:srgbClr val="0B4D1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irrigation with manual override, keeping the farmer in control.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0">
            <a:off x="-457200" y="3291840"/>
            <a:ext cx="2377440" cy="23774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7315200" y="-548640"/>
            <a:ext cx="2560320" cy="25603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0">
            <a:off x="7863840" y="3566160"/>
            <a:ext cx="1097280" cy="10972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1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F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RYTHUMITRA AI  |  AIBOTS-2026 HACKATHON  |  REVIEW 1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feedback are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ythuMitra Green">
  <a:themeElements>
    <a:clrScheme name="RythuMitra Green">
      <a:dk1>
        <a:srgbClr val="063D0C"/>
      </a:dk1>
      <a:lt1>
        <a:srgbClr val="FFFFFF"/>
      </a:lt1>
      <a:dk2>
        <a:srgbClr val="0B4D12"/>
      </a:dk2>
      <a:lt2>
        <a:srgbClr val="D4F78A"/>
      </a:lt2>
      <a:accent1>
        <a:srgbClr val="0B4D12"/>
      </a:accent1>
      <a:accent2>
        <a:srgbClr val="6BBF59"/>
      </a:accent2>
      <a:accent3>
        <a:srgbClr val="F5A623"/>
      </a:accent3>
      <a:accent4>
        <a:srgbClr val="D4F78A"/>
      </a:accent4>
      <a:accent5>
        <a:srgbClr val="1F7A27"/>
      </a:accent5>
      <a:accent6>
        <a:srgbClr val="FFFFFF"/>
      </a:accent6>
      <a:hlink>
        <a:srgbClr val="1F7A27"/>
      </a:hlink>
      <a:folHlink>
        <a:srgbClr val="1F7A27"/>
      </a:folHlink>
    </a:clrScheme>
    <a:fontScheme name="RythuMitra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RythuMitra AI - Review 1</dc:title>
  <dc:subject>PptxGenJS Presentation</dc:subject>
  <dc:creator>RythuMitra AI Team</dc:creator>
  <cp:lastModifiedBy>RythuMitra AI Team</cp:lastModifiedBy>
  <cp:revision>1</cp:revision>
  <dcterms:created xsi:type="dcterms:W3CDTF">2026-10-16T09:00:59Z</dcterms:created>
  <dcterms:modified xsi:type="dcterms:W3CDTF">2026-10-16T09:00:59Z</dcterms:modified>
</cp:coreProperties>
</file>